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Поступашки — система измерения эффективности маркетинга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От маркетинговых данных и поведения пользователя до ROMI и решения по бюджету.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1C1E"/>
                </a:solidFill>
                <a:latin typeface="Aptos"/>
              </a:rPr>
              <a:t>Мы построили MVP measurement-системы: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2606040" cy="192024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514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1B1B"/>
                </a:solidFill>
                <a:latin typeface="Aptos"/>
              </a:rPr>
              <a:t>Данные и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Определили структуру данных, воронку и правила расчёта.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240280"/>
            <a:ext cx="2606040" cy="192024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514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1B1B"/>
                </a:solidFill>
                <a:latin typeface="Aptos"/>
              </a:rPr>
              <a:t>MVP и инфраструктура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6324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Реализовали Telegram-бота, базу, логирование и интерфейс.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40280"/>
            <a:ext cx="2606040" cy="192024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2514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1B1B"/>
                </a:solidFill>
                <a:latin typeface="Aptos"/>
              </a:rPr>
              <a:t>Атрибуция и ROMI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Сделали движок с четырьмя моделями атрибуции.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2240280"/>
            <a:ext cx="2606040" cy="192024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1" y="2514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1B1B"/>
                </a:solidFill>
                <a:latin typeface="Aptos"/>
              </a:rPr>
              <a:t>Проверка подхода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39" y="306324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Создали mock-данные и synthetic experiment с известной «правдой».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92040"/>
            <a:ext cx="106984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8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E"/>
                </a:solidFill>
                <a:latin typeface="Aptos"/>
              </a:rPr>
              <a:t>Главный результат: новые рекламные кампании можно измерять в единой системе — от размещения до оплаты и аналитики.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Что есть в исходных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Продажи видны. Источник конкретной продажи — нет.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1. Историческая база продаж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057400" cy="804672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E"/>
                </a:solidFill>
                <a:latin typeface="Aptos"/>
              </a:rPr>
              <a:t>795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256"/>
                </a:solidFill>
                <a:latin typeface="Aptos"/>
              </a:rPr>
              <a:t>строк продаж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74519"/>
            <a:ext cx="2057400" cy="804672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011680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E"/>
                </a:solidFill>
                <a:latin typeface="Aptos"/>
              </a:rPr>
              <a:t>606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042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256"/>
                </a:solidFill>
                <a:latin typeface="Aptos"/>
              </a:rPr>
              <a:t>уникальных клиентов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1874519"/>
            <a:ext cx="2057400" cy="804672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011680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E"/>
                </a:solidFill>
                <a:latin typeface="Aptos"/>
              </a:rPr>
              <a:t>5,90 млн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3042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256"/>
                </a:solidFill>
                <a:latin typeface="Aptos"/>
              </a:rPr>
              <a:t>выручки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1874519"/>
            <a:ext cx="2057400" cy="804672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2011680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E"/>
                </a:solidFill>
                <a:latin typeface="Aptos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4344" y="23042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256"/>
                </a:solidFill>
                <a:latin typeface="Aptos"/>
              </a:rPr>
              <a:t>продуктов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0888" y="1874519"/>
            <a:ext cx="2057400" cy="804672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615" y="2011680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E"/>
                </a:solidFill>
                <a:latin typeface="Aptos"/>
              </a:rPr>
              <a:t>7 475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5" y="23042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256"/>
                </a:solidFill>
                <a:latin typeface="Aptos"/>
              </a:rPr>
              <a:t>медианный чек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2. Что показал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747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Проанализировали историю продаж и публикации собственного Telegram-канала.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Сделали rule-based классификатор постов: content, sale, discount, external_ad.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Сопоставили публикации с динамикой продаж и отдельно учли внешние события.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Увидели сильную сезонность: всплеск продаж рядом с публикацией ещё не доказывает эффект рекламы.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80"/>
            <a:ext cx="10698480" cy="64008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0527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61B1B"/>
                </a:solidFill>
                <a:latin typeface="Aptos"/>
              </a:rPr>
              <a:t>Вывод: исторические данные дают baseline спроса, но не дают полного customer journey и честного исторического ROMI внешней рекламы.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Каких данных не хватало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Для оценки эффективности нужно видеть не только покупку, но и путь до неё.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166360" cy="425196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6E4A"/>
                </a:solidFill>
                <a:latin typeface="Aptos"/>
              </a:rPr>
              <a:t>Что мы знаем из истории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1C1E"/>
                </a:solidFill>
                <a:latin typeface="Aptos"/>
              </a:rPr>
              <a:t>• когда произошла покупка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E"/>
                </a:solidFill>
                <a:latin typeface="Aptos"/>
              </a:rPr>
              <a:t>• на какую сумму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E"/>
                </a:solidFill>
                <a:latin typeface="Aptos"/>
              </a:rPr>
              <a:t>• какой продукт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E"/>
                </a:solidFill>
                <a:latin typeface="Aptos"/>
              </a:rPr>
              <a:t>• анонимный клиент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303520" cy="425196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61B1B"/>
                </a:solidFill>
                <a:latin typeface="Aptos"/>
              </a:rPr>
              <a:t>Что нужно собирать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95728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1C1C1E"/>
                </a:solidFill>
                <a:latin typeface="Aptos"/>
              </a:rPr>
              <a:t>• какое размещение привело пользователя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C1C1E"/>
                </a:solidFill>
                <a:latin typeface="Aptos"/>
              </a:rPr>
              <a:t>• когда было рекламное касание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C1C1E"/>
                </a:solidFill>
                <a:latin typeface="Aptos"/>
              </a:rPr>
              <a:t>• сколько касаний было до покупки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C1C1E"/>
                </a:solidFill>
                <a:latin typeface="Aptos"/>
              </a:rPr>
              <a:t>• что пользователь делал в боте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C1C1E"/>
                </a:solidFill>
                <a:latin typeface="Aptos"/>
              </a:rPr>
              <a:t>• какая заявка стала оплатой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C1C1E"/>
                </a:solidFill>
                <a:latin typeface="Aptos"/>
              </a:rPr>
              <a:t>• сколько стоило размещение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167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E"/>
                </a:solidFill>
                <a:latin typeface="Aptos"/>
              </a:rPr>
              <a:t>Поэтому мы не стали придумывать отсутствующие исторические источники. Мы спроектировали сбор этих данных для новых запусков.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Measurement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Определили единую структуру данных, которая связывает маркетинг и продажи.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5613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73351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B1B"/>
                </a:solidFill>
                <a:latin typeface="Aptos"/>
              </a:rPr>
              <a:t>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55063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кампания, канал, тип размещения, стоимость, дата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12848"/>
            <a:ext cx="105613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B1B"/>
                </a:solidFill>
                <a:latin typeface="Aptos"/>
              </a:rPr>
              <a:t>User /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59152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анонимный пользователь, источник касания, время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16936"/>
            <a:ext cx="105613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81528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B1B"/>
                </a:solidFill>
                <a:latin typeface="Aptos"/>
              </a:rPr>
              <a:t>Bot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63240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просмотр продукта, интерес и другие действия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21024"/>
            <a:ext cx="105613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785615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B1B"/>
                </a:solidFill>
                <a:latin typeface="Aptos"/>
              </a:rPr>
              <a:t>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67328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интерес к курсу, менеджер, статус заявки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25112"/>
            <a:ext cx="105613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489704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B1B"/>
                </a:solidFill>
                <a:latin typeface="Aptos"/>
              </a:rPr>
              <a:t>Order / Order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71416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оплата, сумма, продукт, время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105613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193792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B1B"/>
                </a:solidFill>
                <a:latin typeface="Aptos"/>
              </a:rPr>
              <a:t>Attribution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175504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модель, вес касания, attributed revenue и margin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561320" cy="50292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43600"/>
            <a:ext cx="10149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1C1E"/>
                </a:solidFill>
                <a:latin typeface="Aptos"/>
              </a:rPr>
              <a:t>Структура поддерживает multi-touch, повторные покупки и Organic/Direct и готова для расчёта attribution и ROMI.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C1E"/>
                </a:solidFill>
                <a:latin typeface="Aptos"/>
              </a:rPr>
              <a:t>MVP: бот собирает данные и отдаёт аналитику маркетологу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Интерфейс одновременно помогает вести рекламные размещения, логирует путь пользователя и формирует готовый отчёт.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94182"/>
            <a:ext cx="5074920" cy="2528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53328" y="1572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Что логируем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920240"/>
            <a:ext cx="52578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1C1C1E"/>
                </a:solidFill>
                <a:latin typeface="Aptos"/>
              </a:rPr>
              <a:t>• откуда пришёл пользователь: конкретное рекламное размещение / пост или без рекламной метки;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C1C1E"/>
                </a:solidFill>
                <a:latin typeface="Aptos"/>
              </a:rPr>
              <a:t>• время первого захода и последующие заходы по меткам;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C1C1E"/>
                </a:solidFill>
                <a:latin typeface="Aptos"/>
              </a:rPr>
              <a:t>• какие этапы прошёл в боте: просмотр направления, курса или пакета, интерес, заявка;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C1C1E"/>
                </a:solidFill>
                <a:latin typeface="Aptos"/>
              </a:rPr>
              <a:t>• связь заявки с пользователем, а после продажи — с оплатой и продуктом.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3685032"/>
            <a:ext cx="5257800" cy="658368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822191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1C1E"/>
                </a:solidFill>
                <a:latin typeface="Aptos"/>
              </a:rPr>
              <a:t>Если пользователь пришёл без метки, бот спрашивает, откуда он узнал о продукте. Ответ сохраняется в заявке как self-reported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4553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Что видит маркетолог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4882896"/>
            <a:ext cx="5230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30">
                <a:solidFill>
                  <a:srgbClr val="1C1C1E"/>
                </a:solidFill>
                <a:latin typeface="Aptos"/>
              </a:rPr>
              <a:t>• историю рекламных размещений: кампания, канал, тип поста, стоимость и дата;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1C1C1E"/>
                </a:solidFill>
                <a:latin typeface="Aptos"/>
              </a:rPr>
              <a:t>• историю измеримых заходов и действий пользователей по каждому размещению;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1C1C1E"/>
                </a:solidFill>
                <a:latin typeface="Aptos"/>
              </a:rPr>
              <a:t>• воронку: зашли → посмотрели → оставили заявку → оплатили;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1C1C1E"/>
                </a:solidFill>
                <a:latin typeface="Aptos"/>
              </a:rPr>
              <a:t>• затраты, фактические оплаты и выручку;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1C1C1E"/>
                </a:solidFill>
                <a:latin typeface="Aptos"/>
              </a:rPr>
              <a:t>• CPA, attributed revenue и рассчитанный ROMI по выбранной модели;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1C1C1E"/>
                </a:solidFill>
                <a:latin typeface="Aptos"/>
              </a:rPr>
              <a:t>• полноту данных и места, где источник или связь пока неизвестны.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99632"/>
            <a:ext cx="1074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256"/>
                </a:solidFill>
                <a:latin typeface="Aptos"/>
              </a:rPr>
              <a:t>Важно: Telegram не показывает клик по ссылке до нажатия «Старт», поэтому первый наблюдаемый шаг — заход в бота.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Attribution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Если касаний несколько, нужно определить, как распределить между ними выручку.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606040" cy="137160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A61B1B"/>
                </a:solidFill>
                <a:latin typeface="Aptos"/>
              </a:rPr>
              <a:t>First touch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100% первому касанию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91640"/>
            <a:ext cx="2606040" cy="137160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9659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A61B1B"/>
                </a:solidFill>
                <a:latin typeface="Aptos"/>
              </a:rPr>
              <a:t>Last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505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100% последнему касанию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2606040" cy="137160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A61B1B"/>
                </a:solidFill>
                <a:latin typeface="Aptos"/>
              </a:rPr>
              <a:t>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505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поровну между касаниями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91640"/>
            <a:ext cx="2606040" cy="137160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9659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A61B1B"/>
                </a:solidFill>
                <a:latin typeface="Aptos"/>
              </a:rPr>
              <a:t>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24505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256"/>
                </a:solidFill>
                <a:latin typeface="Aptos"/>
              </a:rPr>
              <a:t>больше первому и последнему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1. Общие правила движка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окно атрибуции — 30 дней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после покупки старые касания не участвуют в следующей покупке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1C1E"/>
                </a:solidFill>
                <a:latin typeface="Aptos"/>
              </a:rPr>
              <a:t>• если подходящих paid touches нет — заказ относится к Organic/Direct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Aptos"/>
              </a:rPr>
              <a:t>Мы не называем одну модель «истиной». Если бизнес-вывод сохраняется при разных моделях, решение устойчивее. Если меняется — одной атрибуции недостаточно.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Отчёт для маркетолога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Бот собирает наблюдаемые факты по размещениям и по запросу пересчитывает attribution и ROMI.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1239"/>
            <a:ext cx="5897880" cy="3901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Что можно посмотреть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901952"/>
            <a:ext cx="4617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80">
                <a:solidFill>
                  <a:srgbClr val="1C1C1E"/>
                </a:solidFill>
                <a:latin typeface="Aptos"/>
              </a:rPr>
              <a:t>• все заведённые рекламные размещения и tracking-ссылки;</a:t>
            </a:r>
          </a:p>
          <a:p>
            <a:pPr>
              <a:spcAft>
                <a:spcPts val="300"/>
              </a:spcAft>
            </a:pPr>
            <a:r>
              <a:rPr sz="1080">
                <a:solidFill>
                  <a:srgbClr val="1C1C1E"/>
                </a:solidFill>
                <a:latin typeface="Aptos"/>
              </a:rPr>
              <a:t>• по каждому размещению — канал, кампанию, тип поста, стоимость и дату;</a:t>
            </a:r>
          </a:p>
          <a:p>
            <a:pPr>
              <a:spcAft>
                <a:spcPts val="300"/>
              </a:spcAft>
            </a:pPr>
            <a:r>
              <a:rPr sz="1080">
                <a:solidFill>
                  <a:srgbClr val="1C1C1E"/>
                </a:solidFill>
                <a:latin typeface="Aptos"/>
              </a:rPr>
              <a:t>• воронку: заходы в бота, просмотры, заявки и оплаты;</a:t>
            </a:r>
          </a:p>
          <a:p>
            <a:pPr>
              <a:spcAft>
                <a:spcPts val="300"/>
              </a:spcAft>
            </a:pPr>
            <a:r>
              <a:rPr sz="1080">
                <a:solidFill>
                  <a:srgbClr val="1C1C1E"/>
                </a:solidFill>
                <a:latin typeface="Aptos"/>
              </a:rPr>
              <a:t>• выручку по связанным оплатам и стоимость размещения;</a:t>
            </a:r>
          </a:p>
          <a:p>
            <a:pPr>
              <a:spcAft>
                <a:spcPts val="300"/>
              </a:spcAft>
            </a:pPr>
            <a:r>
              <a:rPr sz="1080">
                <a:solidFill>
                  <a:srgbClr val="1C1C1E"/>
                </a:solidFill>
                <a:latin typeface="Aptos"/>
              </a:rPr>
              <a:t>• CPA, attributed revenue, ROMI и ROMI по марже;</a:t>
            </a:r>
          </a:p>
          <a:p>
            <a:pPr>
              <a:spcAft>
                <a:spcPts val="300"/>
              </a:spcAft>
            </a:pPr>
            <a:r>
              <a:rPr sz="1080">
                <a:solidFill>
                  <a:srgbClr val="1C1C1E"/>
                </a:solidFill>
                <a:latin typeface="Aptos"/>
              </a:rPr>
              <a:t>• отчёт отдельно для last, first, linear или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Дополнительно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4498848"/>
            <a:ext cx="4572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C1C1E"/>
                </a:solidFill>
                <a:latin typeface="Aptos"/>
              </a:rPr>
              <a:t>• «Полнота данных» показывает, какие поля не заполнены и что система пока не наблюдает;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C1C1E"/>
                </a:solidFill>
                <a:latin typeface="Aptos"/>
              </a:rPr>
              <a:t>• историю продаж можно загрузить из base.xlsx / base.csv;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C1C1E"/>
                </a:solidFill>
                <a:latin typeface="Aptos"/>
              </a:rPr>
              <a:t>• базу можно выгрузить для дальнейшего анализа.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5715000"/>
            <a:ext cx="4617720" cy="530352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5843016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1C1E"/>
                </a:solidFill>
                <a:latin typeface="Aptos"/>
              </a:rPr>
              <a:t>Факты: заходы, просмотры, заявки, оплаты, cost.  Оценка модели: attributed revenue, CPA и ROMI.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Synthetic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До накопления реальных tracking-данных мы проверили логику в мире, где знаем истинную причину покупки.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361188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659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61B1B"/>
                </a:solidFill>
                <a:latin typeface="Aptos"/>
              </a:rPr>
              <a:t>Что сгенерировали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1 000 пользователей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разное число рекламных касаний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single-touch и multi-touch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сезонный organic demand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повторные покупки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небольшой скрытый ad lift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29000" cy="361188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61B1B"/>
                </a:solidFill>
                <a:latin typeface="Aptos"/>
              </a:rPr>
              <a:t>Что знает генератор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87168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для каждой покупки известна причина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Organic или Ad-incremental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если реклама создала покупку — известен настоящий placement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91640"/>
            <a:ext cx="3429000" cy="3611880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659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61B1B"/>
                </a:solidFill>
                <a:latin typeface="Aptos"/>
              </a:rPr>
              <a:t>Что проверяем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87168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как модели ранжируют placements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совпадает ли знак ROMI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не переоценивается ли реклама около сезонного пика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C1C1E"/>
                </a:solidFill>
                <a:latin typeface="Aptos"/>
              </a:rPr>
              <a:t>• насколько вывод зависит от модели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Aptos"/>
              </a:rPr>
              <a:t>Эксперимент проверяет механизм расчёта и принятия решения. Он не заменяет реальный A/B-тест или holdout.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1C1E"/>
                </a:solidFill>
                <a:latin typeface="Aptos"/>
              </a:rPr>
              <a:t>Что делать с 300 000 ₽ следующего запуска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256"/>
                </a:solidFill>
                <a:latin typeface="Aptos"/>
              </a:rPr>
              <a:t>Рекомендуем не выбирать «лучший канал» заранее, а провести измеримый пилот.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61B1B"/>
                </a:solidFill>
                <a:latin typeface="Aptos"/>
              </a:rPr>
              <a:t>1. Собрать реальные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655063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Провести несколько новых размещений через measurement-систему и накопить реальные customer journeys.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61B1B"/>
                </a:solidFill>
                <a:latin typeface="Aptos"/>
              </a:rPr>
              <a:t>2. Проверить эффект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87752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Где возможно, выделить treatment/control или holdout и оценить дополнительную конверсию и выручку.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74136"/>
            <a:ext cx="1069848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57016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61B1B"/>
                </a:solidFill>
                <a:latin typeface="Aptos"/>
              </a:rPr>
              <a:t>3. Сравнить варианты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520440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Смотреть вместе фактическую воронку, стоимость, CPA, ROMI по моделям и incremental effect пилота.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89704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61B1B"/>
                </a:solidFill>
                <a:latin typeface="Aptos"/>
              </a:rPr>
              <a:t>4. Перераспределить бюджет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453128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1C1E"/>
                </a:solidFill>
                <a:latin typeface="Aptos"/>
              </a:rPr>
              <a:t>Масштабировать подтверждённые прибыльные размещения, сокращать отрицательные, спорные тестировать ещё раз.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1B1B"/>
                </a:solidFill>
                <a:latin typeface="Aptos"/>
              </a:rPr>
              <a:t>5. Decision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0698480" cy="566928"/>
          </a:xfrm>
          <a:prstGeom prst="roundRect">
            <a:avLst/>
          </a:prstGeom>
          <a:solidFill>
            <a:srgbClr val="F4F4F4"/>
          </a:solidFill>
          <a:ln w="889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2531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C1C1E"/>
                </a:solidFill>
                <a:latin typeface="Aptos"/>
              </a:rPr>
              <a:t>Собираем данные. Проверяем эффект. Сравниваем варианты. Перераспределяем бюджет. Повторяем.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2525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